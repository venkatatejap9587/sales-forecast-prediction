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9" r:id="rId3"/>
    <p:sldId id="327" r:id="rId4"/>
    <p:sldId id="333" r:id="rId5"/>
    <p:sldId id="328" r:id="rId6"/>
    <p:sldId id="329" r:id="rId7"/>
    <p:sldId id="334" r:id="rId8"/>
    <p:sldId id="330" r:id="rId9"/>
    <p:sldId id="335" r:id="rId10"/>
    <p:sldId id="336" r:id="rId11"/>
    <p:sldId id="337" r:id="rId12"/>
    <p:sldId id="338" r:id="rId13"/>
    <p:sldId id="331" r:id="rId14"/>
    <p:sldId id="326" r:id="rId1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78"/>
  </p:normalViewPr>
  <p:slideViewPr>
    <p:cSldViewPr>
      <p:cViewPr varScale="1">
        <p:scale>
          <a:sx n="85" d="100"/>
          <a:sy n="85" d="100"/>
        </p:scale>
        <p:origin x="1143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95BFC36-EA66-7180-3388-B28F096718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D68852-FB2D-91BD-79A2-FF95BB3CF94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12210ED-B1CF-3444-BC33-973D25619692}" type="datetimeFigureOut">
              <a:rPr lang="en-US"/>
              <a:pPr>
                <a:defRPr/>
              </a:pPr>
              <a:t>7/10/2025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46C350-EBAE-27B8-0D87-37E7B4B70B2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960692-CEBE-1262-9D9F-24BDBD7F32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168926C7-D4C0-E442-95D5-D4F6878ACC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904707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0E5141-E897-7B17-0435-9EE1C65517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E2C623-2CFC-90B0-D873-DAF92AFD46A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A40FE05-DF68-EE48-9BD6-EB950DB9B0A8}" type="datetimeFigureOut">
              <a:rPr lang="en-US"/>
              <a:pPr>
                <a:defRPr/>
              </a:pPr>
              <a:t>7/10/2025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570E0A6-C30E-7BE6-196F-EE157AC2D4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089CA34-110F-A702-1AFB-E4E98DEEB0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46F09-0D1F-5ADF-7A11-E11BE5BF6FD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B021D6-2CF7-5E42-4C84-752739A199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AEB7530B-FADF-3841-BF0D-A65637F84C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8865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06C102AD-BDA6-5F87-A82C-B76E68892BE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1AB9C41F-2A7C-1BE9-E50F-45E27DB0A00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B2FE4A57-7985-E37E-BB83-413FF0673D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626E999-8E2A-1946-A298-804C79F3AD9B}" type="slidenum">
              <a:rPr lang="en-US" altLang="en-US" smtClean="0"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489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691CD-6BF4-D210-8CB5-2121B63BE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8CC985-5CB4-4C7E-A8D6-1D3071CBF74E}" type="datetime1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20980-F764-95CD-3B08-6FFD1E2CA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6C6F0-A50E-F8BA-3A0C-08A3D9235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5DD7C-245B-454D-BBB8-61B5452966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7849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A76D4-13A1-8081-2CF1-2256C5D6C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685E5D-3540-4C1F-A5B9-7E4E356DF5CB}" type="datetime1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591C3-74A5-55C4-DDB6-77EB66AC7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8367D-80DA-B0EF-BC57-3CF9A8176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696073-0439-0442-AC0F-3387FBE486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4405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73129-BD5C-0162-8D80-29091257E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802EB5-FC62-4A56-A562-29F7D06E787E}" type="datetime1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09F39-C9D1-3855-7CE9-9D34C759D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2D539-F2BC-568F-E582-5DD9ABD8D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64754A-C814-C347-830D-F0FDDA2AE72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4514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F0821E-AA4F-5209-4DD8-2DD63B35B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FAF02E-4EE8-4952-8BCB-945D88CE6C0D}" type="datetime1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E873C8F-8390-F6F5-3C2E-207B4D5FB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FD23E06-BF9C-4442-3D4C-BFAF4ED1A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983558-648C-4647-929A-D401D85615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062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486CB62-BC15-73F4-FDCE-759EB8B8B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1B69F-9CE7-4CA0-9BBE-4BC6F7E283BC}" type="datetime1">
              <a:rPr lang="en-US" smtClean="0"/>
              <a:t>7/10/2025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71C3ADF-22CC-422F-ECF4-7123ABB34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0AD01CB-D38F-C9F1-72D1-C23A029D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18FF40-D1C3-454C-97EE-D1AEBADCD4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7624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559A7E6-9F57-8659-F8D4-F77F37D1C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4C96D0-409F-4DE3-A936-CA04CFB07E1D}" type="datetime1">
              <a:rPr lang="en-US" smtClean="0"/>
              <a:t>7/10/2025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CB3BDA8-3E2A-BA50-A0A2-6D40FEB66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AAAF0DC-B618-501D-3BCE-D336F8209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22116-F8A8-A244-9026-EC4C3B96A0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3352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42E14E2-CEC5-DEE2-F84B-725D5DC8C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DEEB12-449C-443B-B1B8-0D8014732737}" type="datetime1">
              <a:rPr lang="en-US" smtClean="0"/>
              <a:t>7/10/2025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68303D8-3A82-8790-655A-6792E5B09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AD85AB-D76C-D626-F2A0-3215763C9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986CB4-0795-EF46-9C01-0365489928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6700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45856D-94C1-0299-7B48-DA2D03992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B3FE06-B5C7-4388-8263-82AB50210DA7}" type="datetime1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07D1EE3-0297-B083-A12E-A41D2F072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F55E169-255B-622D-47D8-1637B8320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2C36DF-6C11-FF46-914C-2A5CEA1D13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1104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ADD483F-76AB-B4EE-8B9E-FE724C27E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0F8E5C-A785-4CC6-A78C-6F3A56DF7F55}" type="datetime1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784574D-B53F-EAC1-6F22-7715B8D60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4356C5A-277C-ECEC-5A3F-AA9FA4473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9BC72-568A-CF40-9380-7AC683B4E9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321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F858E-DE34-6241-9786-881791BAA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648B0E-AA5C-4F67-8F40-5CA235019CD6}" type="datetime1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30335-8D32-6112-DC6D-2749734C4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4447E-0150-1505-FB9A-EDCD99E1E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AC9A59-4DA6-9048-85E2-5E94805EA4E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7753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A8350-2E8E-9833-5EF2-DC377DCE6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3B434A-3922-4DB5-A088-8AD23A6B8F9B}" type="datetime1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7444E-8D6B-3942-DDA2-899FDA5E8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A0E36-FA89-89B6-67CD-CD3A15AD9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8CC7D-DBF4-BC43-B794-63258C4487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2021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A8526579-EDA6-5822-23FE-0752613D7C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D70D7EDE-9F0B-D18C-C3D3-E2B7E7F22C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18941-12D7-19DE-2EA4-3686A0899F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593A9D1-BF63-4B5C-A346-5A6E7B98FF2A}" type="datetime1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18A78-05C1-DEBC-62CD-C7915C6A9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97254-9997-D1C6-37AC-E50E9D414F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8672C8F-734D-9C42-B8A2-07C063D17B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BE4DE83-3011-CED4-9FE3-E94DF84507F3}"/>
              </a:ext>
            </a:extLst>
          </p:cNvPr>
          <p:cNvSpPr txBox="1">
            <a:spLocks/>
          </p:cNvSpPr>
          <p:nvPr/>
        </p:nvSpPr>
        <p:spPr>
          <a:xfrm>
            <a:off x="152400" y="96837"/>
            <a:ext cx="8839200" cy="66643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2D7E6D-6E0E-F616-7A42-43C31B571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457199"/>
            <a:ext cx="7315200" cy="98627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900" b="1" dirty="0">
                <a:latin typeface="Bahamas" panose="020B0800000000000000" pitchFamily="34" charset="0"/>
              </a:rPr>
              <a:t>   </a:t>
            </a:r>
            <a:br>
              <a:rPr lang="en-US" sz="2900" b="1" dirty="0">
                <a:latin typeface="Bahamas" panose="020B0800000000000000" pitchFamily="34" charset="0"/>
              </a:rPr>
            </a:br>
            <a:r>
              <a:rPr lang="en-US" sz="2400" b="1" dirty="0">
                <a:solidFill>
                  <a:srgbClr val="C00000"/>
                </a:solidFill>
                <a:latin typeface="Bahamas" panose="020B0800000000000000" pitchFamily="34" charset="0"/>
              </a:rPr>
              <a:t>VARDHAMAN COLLEGE OF ENGINEERING, HYDERABAD</a:t>
            </a:r>
            <a:br>
              <a:rPr lang="en-US" sz="2900" b="1" dirty="0">
                <a:latin typeface="Bahamas" panose="020B0800000000000000" pitchFamily="34" charset="0"/>
              </a:rPr>
            </a:br>
            <a:r>
              <a:rPr lang="en-US" sz="2400" b="1" dirty="0"/>
              <a:t>Autonomous institute affiliated to JNTUH </a:t>
            </a:r>
            <a:br>
              <a:rPr lang="en-US" sz="2400" dirty="0"/>
            </a:br>
            <a:r>
              <a:rPr lang="en-US" sz="2400" b="1" dirty="0">
                <a:solidFill>
                  <a:srgbClr val="FF0000"/>
                </a:solidFill>
              </a:rPr>
              <a:t>DEPARTMENT OF CSE(AI&amp;ML)</a:t>
            </a:r>
            <a:br>
              <a:rPr lang="en-US" sz="2400" b="1" dirty="0">
                <a:solidFill>
                  <a:srgbClr val="FF0000"/>
                </a:solidFill>
              </a:rPr>
            </a:br>
            <a:r>
              <a:rPr lang="en-US" sz="2400" b="1" dirty="0">
                <a:solidFill>
                  <a:srgbClr val="FF0000"/>
                </a:solidFill>
              </a:rPr>
              <a:t>III-Year Mini Project Abstract Level Review</a:t>
            </a:r>
            <a:endParaRPr lang="en-US" sz="3600" b="1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CD76FAC-2659-E3C8-F5FF-5277E8ACD478}"/>
              </a:ext>
            </a:extLst>
          </p:cNvPr>
          <p:cNvSpPr txBox="1">
            <a:spLocks/>
          </p:cNvSpPr>
          <p:nvPr/>
        </p:nvSpPr>
        <p:spPr>
          <a:xfrm>
            <a:off x="228600" y="5257800"/>
            <a:ext cx="8686800" cy="137169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300" b="1" u="sng" dirty="0">
                <a:solidFill>
                  <a:srgbClr val="FF0000"/>
                </a:solidFill>
              </a:rPr>
              <a:t>Supervisor</a:t>
            </a:r>
          </a:p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000" b="1" dirty="0">
                <a:solidFill>
                  <a:srgbClr val="002060"/>
                </a:solidFill>
              </a:rPr>
              <a:t>Ms. D Sandhya Rani</a:t>
            </a:r>
          </a:p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200" b="1" dirty="0">
                <a:solidFill>
                  <a:srgbClr val="002060"/>
                </a:solidFill>
              </a:rPr>
              <a:t>Assistant Professor</a:t>
            </a:r>
          </a:p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200" b="1" dirty="0">
                <a:solidFill>
                  <a:srgbClr val="002060"/>
                </a:solidFill>
              </a:rPr>
              <a:t>Department of CSM</a:t>
            </a:r>
          </a:p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US" sz="1600" b="1" dirty="0">
              <a:solidFill>
                <a:srgbClr val="002060"/>
              </a:solidFill>
            </a:endParaRPr>
          </a:p>
          <a:p>
            <a:pPr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US" sz="32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1D74FB6-115D-87F5-7741-2010334675C7}"/>
              </a:ext>
            </a:extLst>
          </p:cNvPr>
          <p:cNvSpPr txBox="1">
            <a:spLocks/>
          </p:cNvSpPr>
          <p:nvPr/>
        </p:nvSpPr>
        <p:spPr>
          <a:xfrm>
            <a:off x="2514600" y="2677388"/>
            <a:ext cx="3657600" cy="5230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BATCH ID : 40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B0F03C7-A9F1-F1FB-307D-135A0631D5FF}"/>
              </a:ext>
            </a:extLst>
          </p:cNvPr>
          <p:cNvSpPr txBox="1">
            <a:spLocks/>
          </p:cNvSpPr>
          <p:nvPr/>
        </p:nvSpPr>
        <p:spPr>
          <a:xfrm>
            <a:off x="266700" y="1519669"/>
            <a:ext cx="8610600" cy="56197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Title: Sales Forecast Prediction  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B858B43-3EB5-52D8-0C3E-5DFB0633C9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845126"/>
              </p:ext>
            </p:extLst>
          </p:nvPr>
        </p:nvGraphicFramePr>
        <p:xfrm>
          <a:off x="1219200" y="3200400"/>
          <a:ext cx="6934200" cy="19812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80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9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4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S.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Roll.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Student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23881A6669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B Sai </a:t>
                      </a:r>
                      <a:r>
                        <a:rPr lang="en-US" sz="2000" b="1" dirty="0" err="1"/>
                        <a:t>Abhighn</a:t>
                      </a:r>
                      <a:r>
                        <a:rPr lang="en-US" sz="2000" b="1" dirty="0"/>
                        <a:t> Reddy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23881A66A1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P Venkata Teja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23881A66A7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R Vijitha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24885A6614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S Aishwarya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805AC0D-A6D9-EB9C-F8AF-085B94A2632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75" y="381000"/>
            <a:ext cx="885825" cy="88582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1A0C6ED-F6BC-B983-5BE1-164F7931740F}"/>
              </a:ext>
            </a:extLst>
          </p:cNvPr>
          <p:cNvSpPr txBox="1">
            <a:spLocks/>
          </p:cNvSpPr>
          <p:nvPr/>
        </p:nvSpPr>
        <p:spPr>
          <a:xfrm>
            <a:off x="266700" y="2119744"/>
            <a:ext cx="8610600" cy="557644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Domain: Machine Learning  </a:t>
            </a:r>
          </a:p>
        </p:txBody>
      </p:sp>
      <p:pic>
        <p:nvPicPr>
          <p:cNvPr id="11" name="Picture 10" descr="A logo for a college of engineering&#10;&#10;AI-generated content may be incorrect.">
            <a:extLst>
              <a:ext uri="{FF2B5EF4-FFF2-40B4-BE49-F238E27FC236}">
                <a16:creationId xmlns:a16="http://schemas.microsoft.com/office/drawing/2014/main" id="{6C7552B8-7C99-DFFF-5F7C-150282F9BF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10383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52B95-9325-F1D8-331B-C878F64EE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Outlines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4925D-7C70-EFD6-157C-3EFEE75D1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Abstract</a:t>
            </a:r>
          </a:p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Literature Review  </a:t>
            </a:r>
          </a:p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Existing System  with Pros and Cons (comparison with existing systems- Table)</a:t>
            </a:r>
          </a:p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 &amp; Expected Deliverables</a:t>
            </a:r>
          </a:p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SDG Mapping</a:t>
            </a:r>
          </a:p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 Mapping</a:t>
            </a:r>
          </a:p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PSO Mapping</a:t>
            </a:r>
          </a:p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Timeline</a:t>
            </a:r>
          </a:p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  <a:endParaRPr lang="en-US" sz="2500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US" sz="2500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US" sz="2500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08B2FEF-75CE-22A6-932D-CAC7F2B41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/>
              <a:t>DEPARTMENT OF CSM PROJECT WORK PHASE-1 REVIEW-1</a:t>
            </a:r>
            <a:endParaRPr lang="en-US" dirty="0"/>
          </a:p>
        </p:txBody>
      </p:sp>
      <p:sp>
        <p:nvSpPr>
          <p:cNvPr id="5125" name="Slide Number Placeholder 4">
            <a:extLst>
              <a:ext uri="{FF2B5EF4-FFF2-40B4-BE49-F238E27FC236}">
                <a16:creationId xmlns:a16="http://schemas.microsoft.com/office/drawing/2014/main" id="{B94918F9-C828-DF54-3C56-4890A9AAE0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8794640-E00F-3143-842B-AC5CC465A4F0}" type="slidenum">
              <a:rPr lang="en-US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3" descr="A logo for a college of engineering&#10;&#10;AI-generated content may be incorrect.">
            <a:extLst>
              <a:ext uri="{FF2B5EF4-FFF2-40B4-BE49-F238E27FC236}">
                <a16:creationId xmlns:a16="http://schemas.microsoft.com/office/drawing/2014/main" id="{22F9A820-0F77-1BB7-B6CE-A50E38DF8A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9D397-13EA-11B4-90BF-BA5CF2545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54000"/>
            <a:ext cx="7391400" cy="639763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55CB3-CE6C-6BDC-1479-DFE50C996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sz="2400" dirty="0"/>
              <a:t>Sales forecast prediction is a crucial aspect of modern business strategy, enabling organizations to anticipate future revenue and make informed operational decisions.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sz="2400" dirty="0"/>
              <a:t>This project focuses on leveraging historical sales data and advanced predictive techniques to estimate future sales performance.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sz="2400" dirty="0"/>
              <a:t>By applying machine learning models, the system identifies patterns and trends that traditional methods might overlook.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sz="2400" dirty="0"/>
              <a:t>The objective is to improve forecasting accuracy, reduce uncertainty, and assist businesses in optimizing inventory management, marketing efforts, and financial planning.</a:t>
            </a:r>
          </a:p>
          <a:p>
            <a:pPr marL="0" indent="0" algn="just" eaLnBrk="1" fontAlgn="auto" hangingPunct="1">
              <a:spcAft>
                <a:spcPts val="0"/>
              </a:spcAft>
              <a:buNone/>
              <a:defRPr/>
            </a:pPr>
            <a:endParaRPr lang="en-US" sz="2400" dirty="0"/>
          </a:p>
        </p:txBody>
      </p:sp>
      <p:sp>
        <p:nvSpPr>
          <p:cNvPr id="7173" name="Slide Number Placeholder 4">
            <a:extLst>
              <a:ext uri="{FF2B5EF4-FFF2-40B4-BE49-F238E27FC236}">
                <a16:creationId xmlns:a16="http://schemas.microsoft.com/office/drawing/2014/main" id="{D048722D-D3DD-12CF-F67D-9D9F60077D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FEE5103-700D-C248-920B-26408745AF96}" type="slidenum">
              <a:rPr lang="en-US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en-US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3" descr="A logo for a college of engineering&#10;&#10;AI-generated content may be incorrect.">
            <a:extLst>
              <a:ext uri="{FF2B5EF4-FFF2-40B4-BE49-F238E27FC236}">
                <a16:creationId xmlns:a16="http://schemas.microsoft.com/office/drawing/2014/main" id="{3B54C06A-AE75-5A1C-8D8A-CBA4AD169A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AE3DF-9C62-5025-ED7A-4FDCC59B1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11216-CDDD-472F-9B83-9C3A2C2F9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b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  <a:endParaRPr lang="en-US" sz="2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A3182-FA99-7B9D-B96E-A9E072C3A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/>
              <a:t> </a:t>
            </a:r>
            <a:r>
              <a:rPr lang="en-US" sz="2400" dirty="0"/>
              <a:t>Sales forecast prediction is the process of estimating future sales based on historical data, trends, and influencing factors.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/>
              <a:t>It helps businesses plan inventory, budget effectively, set realistic sales goals, and make data-driven decisions.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/>
              <a:t>Accurate sales forecasting ensures companies can meet customer demand without overproducing or understocking.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/>
              <a:t>Sales forecasting uses data such as past sales, market trends, seasonality, promotions, and customer behavior.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/>
              <a:t>Traditional forecasting methods often struggle with complex data patterns and changing market dynamics</a:t>
            </a:r>
            <a:r>
              <a:rPr lang="en-US" sz="2800" dirty="0"/>
              <a:t>.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2800" dirty="0"/>
          </a:p>
        </p:txBody>
      </p:sp>
      <p:sp>
        <p:nvSpPr>
          <p:cNvPr id="8197" name="Slide Number Placeholder 4">
            <a:extLst>
              <a:ext uri="{FF2B5EF4-FFF2-40B4-BE49-F238E27FC236}">
                <a16:creationId xmlns:a16="http://schemas.microsoft.com/office/drawing/2014/main" id="{74458AFC-CECD-533F-17A3-0F45005991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7DA0EF8-0E81-7D49-BCA1-A831B702A60A}" type="slidenum">
              <a:rPr lang="en-US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en-US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pic>
        <p:nvPicPr>
          <p:cNvPr id="5" name="Picture 4" descr="A logo for a college of engineering&#10;&#10;AI-generated content may be incorrect.">
            <a:extLst>
              <a:ext uri="{FF2B5EF4-FFF2-40B4-BE49-F238E27FC236}">
                <a16:creationId xmlns:a16="http://schemas.microsoft.com/office/drawing/2014/main" id="{4E969260-C92C-7C2D-1417-D412288F20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2716F3-528E-B93A-3E89-CE28FAA5B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F27143-A7CF-D2B7-51E3-25FCEA837D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4505874"/>
            <a:ext cx="2686329" cy="206720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F55EB-ADDC-2BA0-3088-C611A3A4B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Existing System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D3389-F965-4825-E122-540100680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/>
              <a:t>Traditional Statistical Methods</a:t>
            </a:r>
            <a:r>
              <a:rPr lang="en-US" sz="2400" dirty="0"/>
              <a:t> - Models like Linear Regression, Moving Average, and ARIMA are used for basic forecasting using historical sales data.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/>
              <a:t>Spreadsheet Tools</a:t>
            </a:r>
            <a:r>
              <a:rPr lang="en-US" sz="2400" dirty="0"/>
              <a:t> - Microsoft Excel and Google Sheets are commonly used for manual forecasting with formulas, charts, and trendlines.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/>
              <a:t>ERP/CRM Systems</a:t>
            </a:r>
            <a:r>
              <a:rPr lang="en-US" sz="2400" dirty="0"/>
              <a:t> - Platforms like Salesforce, SAP, Oracle NetSuite, and Microsoft Dynamics 365 offer built-in forecasting features integrated with customer and sales data.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/>
              <a:t>Business Intelligence (BI) Tools</a:t>
            </a:r>
            <a:r>
              <a:rPr lang="en-US" sz="2400" dirty="0"/>
              <a:t> - Tools like Tableau, Power BI, and QlikView support sales forecasting through data visualization and predictive analytics.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IN" sz="2400" b="1" dirty="0"/>
              <a:t>Custom Machine Learning Solutions</a:t>
            </a:r>
            <a:r>
              <a:rPr lang="en-IN" sz="2400" dirty="0"/>
              <a:t> - Built using Python, libraries like Scikit-learn, </a:t>
            </a:r>
            <a:r>
              <a:rPr lang="en-IN" sz="2400" dirty="0" err="1"/>
              <a:t>XGBoost</a:t>
            </a:r>
            <a:r>
              <a:rPr lang="en-IN" sz="2400" dirty="0"/>
              <a:t>, LSTM (TensorFlow/</a:t>
            </a:r>
            <a:r>
              <a:rPr lang="en-IN" sz="2400" dirty="0" err="1"/>
              <a:t>Keras</a:t>
            </a:r>
            <a:r>
              <a:rPr lang="en-IN" sz="2400" dirty="0"/>
              <a:t>), and Facebook Prophet enable tailored, high-accuracy forecasting models.</a:t>
            </a:r>
            <a:endParaRPr lang="en-US" sz="24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</p:txBody>
      </p:sp>
      <p:sp>
        <p:nvSpPr>
          <p:cNvPr id="9221" name="Slide Number Placeholder 4">
            <a:extLst>
              <a:ext uri="{FF2B5EF4-FFF2-40B4-BE49-F238E27FC236}">
                <a16:creationId xmlns:a16="http://schemas.microsoft.com/office/drawing/2014/main" id="{77618A5C-D619-991F-E5BE-E77347C73C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0544C4A-25D2-E542-A79E-1E54EDA09CD4}" type="slidenum">
              <a:rPr lang="en-US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en-US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3" descr="A logo for a college of engineering&#10;&#10;AI-generated content may be incorrect.">
            <a:extLst>
              <a:ext uri="{FF2B5EF4-FFF2-40B4-BE49-F238E27FC236}">
                <a16:creationId xmlns:a16="http://schemas.microsoft.com/office/drawing/2014/main" id="{8FFF06A1-C9DE-44E8-09B6-28A7E8C0E8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4DE47-1931-C634-1C5C-7F4C5798A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B6182-C56B-3090-BB7F-EBBD3C5D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b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Pros and Cons of Existing System</a:t>
            </a:r>
            <a:endParaRPr lang="en-US" sz="2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75809-3363-93F1-DF2B-0749B0550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2400" b="1" dirty="0"/>
              <a:t>Pros: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/>
              <a:t>Sales forecasting systems improve accuracy by identifying complex trends using machine learning and statistical models.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/>
              <a:t>Cloud-based platforms offer scalability, allowing businesses to handle large volumes of sales data efficiently.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/>
              <a:t>They automate the forecasting process, saving time and minimizing human errors.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2400" b="1" dirty="0"/>
              <a:t>Cons: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/>
              <a:t>The accuracy of forecasts depends heavily on the availability and quality of historical sales data.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/>
              <a:t>Advanced forecasting tools can be expensive to implement and maintain, especially for small businesses.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/>
              <a:t>Using cloud-based tools raises concerns about data privacy and security.</a:t>
            </a:r>
          </a:p>
        </p:txBody>
      </p:sp>
      <p:sp>
        <p:nvSpPr>
          <p:cNvPr id="10245" name="Slide Number Placeholder 4">
            <a:extLst>
              <a:ext uri="{FF2B5EF4-FFF2-40B4-BE49-F238E27FC236}">
                <a16:creationId xmlns:a16="http://schemas.microsoft.com/office/drawing/2014/main" id="{A3146C62-666C-67C7-63DF-0C645EF2BF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164A38F-66D0-3249-BDB1-19728BCC61CC}" type="slidenum">
              <a:rPr lang="en-US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en-US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3" descr="A logo for a college of engineering&#10;&#10;AI-generated content may be incorrect.">
            <a:extLst>
              <a:ext uri="{FF2B5EF4-FFF2-40B4-BE49-F238E27FC236}">
                <a16:creationId xmlns:a16="http://schemas.microsoft.com/office/drawing/2014/main" id="{73BD44BD-9C2A-2C72-1990-9CA75DDCFA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1B59B-9D82-53A9-BACD-4F7C403D5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1B3D0-697B-4D0F-66C2-291325B1E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b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  <a:endParaRPr lang="en-US" sz="2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7FB4F-5906-D5C2-C9EF-616F2218C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sz="2400" dirty="0"/>
              <a:t>Sales forecasting is a crucial function for businesses to plan inventory, allocate resources, and set revenue goals effectively.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sz="2400" dirty="0"/>
              <a:t>Traditional forecasting methods struggle to adapt to dynamic market trends, seasonal variations, and irregular customer behavior.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sz="2400" dirty="0"/>
              <a:t>Machine learning techniques offer improved accuracy by learning complex relationships in data that traditional models often miss.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sz="2400" dirty="0"/>
              <a:t>This project aims to implement and evaluate ML-based models to provide reliable, data-driven sales forecasts for better business decision-making.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  <a:p>
            <a:pPr algn="ctr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</p:txBody>
      </p:sp>
      <p:sp>
        <p:nvSpPr>
          <p:cNvPr id="11269" name="Slide Number Placeholder 4">
            <a:extLst>
              <a:ext uri="{FF2B5EF4-FFF2-40B4-BE49-F238E27FC236}">
                <a16:creationId xmlns:a16="http://schemas.microsoft.com/office/drawing/2014/main" id="{6154C12E-0FE3-043E-91A1-FB1BA00563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6F3171B-38C9-4048-8A52-8953721231B0}" type="slidenum">
              <a:rPr lang="en-US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en-US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3" descr="A logo for a college of engineering&#10;&#10;AI-generated content may be incorrect.">
            <a:extLst>
              <a:ext uri="{FF2B5EF4-FFF2-40B4-BE49-F238E27FC236}">
                <a16:creationId xmlns:a16="http://schemas.microsoft.com/office/drawing/2014/main" id="{2614CE5A-E75D-45C0-AED2-59349D350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5E49B-4EFD-8A50-EF89-543593FF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BDBDF2-1662-1FE2-8ADF-84F0EF037A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3923" y="4495800"/>
            <a:ext cx="3219718" cy="195288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B1C95-4744-461E-C6E4-35A801E6B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 &amp; Deliverables 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DD4CB-253E-F5D2-F755-CBCEFF5B0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2400" b="1" dirty="0"/>
              <a:t>Objectives: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/>
              <a:t>To develop a machine learning model that accurately forecasts future sales using historical data.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/>
              <a:t>To automate the sales prediction process for better inventory, budgeting, and marketing decisions.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/>
              <a:t>To evaluate and compare different forecasting models to identify the most effective one.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2400" b="1" dirty="0"/>
              <a:t>Expected Deliverables: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/>
              <a:t>A trained and tested machine learning model capable of predicting future sales.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/>
              <a:t>A visualization dashboard or report to display forecast results and insights.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/>
              <a:t>Comparative analysis of different models with accuracy scores.</a:t>
            </a:r>
            <a:endParaRPr lang="en-US" sz="2400" b="1" dirty="0"/>
          </a:p>
        </p:txBody>
      </p:sp>
      <p:sp>
        <p:nvSpPr>
          <p:cNvPr id="12293" name="Slide Number Placeholder 4">
            <a:extLst>
              <a:ext uri="{FF2B5EF4-FFF2-40B4-BE49-F238E27FC236}">
                <a16:creationId xmlns:a16="http://schemas.microsoft.com/office/drawing/2014/main" id="{27DCCAF4-2051-81C6-BB7D-630CE44510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D40E627-E50B-7D4A-BF44-1C82372BDF89}" type="slidenum">
              <a:rPr lang="en-US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en-US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3" descr="A logo for a college of engineering&#10;&#10;AI-generated content may be incorrect.">
            <a:extLst>
              <a:ext uri="{FF2B5EF4-FFF2-40B4-BE49-F238E27FC236}">
                <a16:creationId xmlns:a16="http://schemas.microsoft.com/office/drawing/2014/main" id="{DC5A68FC-0B10-D4FC-5E40-F88E66CBBD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E7F39-FB23-1075-80EE-082BF154F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AEB1D7-F71A-BE96-D838-64E5F1B0E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B2A84E-44BE-0E74-E443-2BA96C63D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96073-0439-0442-AC0F-3387FBE4863F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pic>
        <p:nvPicPr>
          <p:cNvPr id="6" name="Picture 5" descr="A logo for a college of engineering&#10;&#10;AI-generated content may be incorrect.">
            <a:extLst>
              <a:ext uri="{FF2B5EF4-FFF2-40B4-BE49-F238E27FC236}">
                <a16:creationId xmlns:a16="http://schemas.microsoft.com/office/drawing/2014/main" id="{1E335621-FC1A-76DA-CF5A-3391A96800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3323897-E07E-D7DE-E573-C20F1E0E1EE1}"/>
              </a:ext>
            </a:extLst>
          </p:cNvPr>
          <p:cNvSpPr txBox="1">
            <a:spLocks/>
          </p:cNvSpPr>
          <p:nvPr/>
        </p:nvSpPr>
        <p:spPr bwMode="auto">
          <a:xfrm>
            <a:off x="266700" y="145269"/>
            <a:ext cx="7391400" cy="63976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dirty="0"/>
              <a:t>SDG Mapping</a:t>
            </a:r>
            <a:endParaRPr lang="en-US" sz="2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22" name="Content Placeholder 7">
            <a:extLst>
              <a:ext uri="{FF2B5EF4-FFF2-40B4-BE49-F238E27FC236}">
                <a16:creationId xmlns:a16="http://schemas.microsoft.com/office/drawing/2014/main" id="{206E827B-F26F-53A2-8F7B-E1E8B34BC5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7553635"/>
              </p:ext>
            </p:extLst>
          </p:nvPr>
        </p:nvGraphicFramePr>
        <p:xfrm>
          <a:off x="304800" y="1036140"/>
          <a:ext cx="8534401" cy="5281000"/>
        </p:xfrm>
        <a:graphic>
          <a:graphicData uri="http://schemas.openxmlformats.org/drawingml/2006/table">
            <a:tbl>
              <a:tblPr/>
              <a:tblGrid>
                <a:gridCol w="2817181">
                  <a:extLst>
                    <a:ext uri="{9D8B030D-6E8A-4147-A177-3AD203B41FA5}">
                      <a16:colId xmlns:a16="http://schemas.microsoft.com/office/drawing/2014/main" val="1626564248"/>
                    </a:ext>
                  </a:extLst>
                </a:gridCol>
                <a:gridCol w="2858610">
                  <a:extLst>
                    <a:ext uri="{9D8B030D-6E8A-4147-A177-3AD203B41FA5}">
                      <a16:colId xmlns:a16="http://schemas.microsoft.com/office/drawing/2014/main" val="3315582646"/>
                    </a:ext>
                  </a:extLst>
                </a:gridCol>
                <a:gridCol w="2858610">
                  <a:extLst>
                    <a:ext uri="{9D8B030D-6E8A-4147-A177-3AD203B41FA5}">
                      <a16:colId xmlns:a16="http://schemas.microsoft.com/office/drawing/2014/main" val="3968937400"/>
                    </a:ext>
                  </a:extLst>
                </a:gridCol>
              </a:tblGrid>
              <a:tr h="700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SDG Goal</a:t>
                      </a:r>
                      <a:endParaRPr lang="en-I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Goal Title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Justification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485397"/>
                  </a:ext>
                </a:extLst>
              </a:tr>
              <a:tr h="166988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Decent Work and Economic Growth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Improves business efficiency and stability through accurate demand planning, supporting economic growth.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3368675"/>
                  </a:ext>
                </a:extLst>
              </a:tr>
              <a:tr h="14045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Industry, Innovation and Infrastructure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Applies AI and machine learning for smart forecasting, promoting innovation and digital transformation.</a:t>
                      </a:r>
                      <a:endParaRPr lang="en-I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028435"/>
                  </a:ext>
                </a:extLst>
              </a:tr>
              <a:tr h="14478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Responsible Consumption &amp; Production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Reduces overproduction and waste by aligning inventory and resources with actual sales demand.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1416019"/>
                  </a:ext>
                </a:extLst>
              </a:tr>
            </a:tbl>
          </a:graphicData>
        </a:graphic>
      </p:graphicFrame>
      <p:pic>
        <p:nvPicPr>
          <p:cNvPr id="23" name="Picture 22" descr="A red square with white text and a graphic&#10;&#10;AI-generated content may be incorrect.">
            <a:extLst>
              <a:ext uri="{FF2B5EF4-FFF2-40B4-BE49-F238E27FC236}">
                <a16:creationId xmlns:a16="http://schemas.microsoft.com/office/drawing/2014/main" id="{A06A1227-73D2-00A1-19A5-B2A834DDC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9" y="1752600"/>
            <a:ext cx="2819401" cy="1676400"/>
          </a:xfrm>
          <a:prstGeom prst="rect">
            <a:avLst/>
          </a:prstGeom>
        </p:spPr>
      </p:pic>
      <p:pic>
        <p:nvPicPr>
          <p:cNvPr id="24" name="Picture 23" descr="A logo of a company&#10;&#10;AI-generated content may be incorrect.">
            <a:extLst>
              <a:ext uri="{FF2B5EF4-FFF2-40B4-BE49-F238E27FC236}">
                <a16:creationId xmlns:a16="http://schemas.microsoft.com/office/drawing/2014/main" id="{00E07E88-BB41-0CDB-9D86-A325F6030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99" y="3429000"/>
            <a:ext cx="2819400" cy="1421218"/>
          </a:xfrm>
          <a:prstGeom prst="rect">
            <a:avLst/>
          </a:prstGeom>
        </p:spPr>
      </p:pic>
      <p:pic>
        <p:nvPicPr>
          <p:cNvPr id="25" name="Picture 24" descr="A yellow rectangular sign with white text&#10;&#10;AI-generated content may be incorrect.">
            <a:extLst>
              <a:ext uri="{FF2B5EF4-FFF2-40B4-BE49-F238E27FC236}">
                <a16:creationId xmlns:a16="http://schemas.microsoft.com/office/drawing/2014/main" id="{41450588-16F3-BB12-1540-7AD7AA3227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799" y="4850218"/>
            <a:ext cx="2819400" cy="145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099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AA3CB4-2F53-010F-F197-53652757F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A0E23C-2698-E331-453A-F1CCD76D2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96073-0439-0442-AC0F-3387FBE4863F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pic>
        <p:nvPicPr>
          <p:cNvPr id="6" name="Picture 5" descr="A logo for a college of engineering&#10;&#10;AI-generated content may be incorrect.">
            <a:extLst>
              <a:ext uri="{FF2B5EF4-FFF2-40B4-BE49-F238E27FC236}">
                <a16:creationId xmlns:a16="http://schemas.microsoft.com/office/drawing/2014/main" id="{8F2C3ECF-2F42-0AF6-4B66-1634A32339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537F1173-304E-14F2-FAA3-14AFA850EC38}"/>
              </a:ext>
            </a:extLst>
          </p:cNvPr>
          <p:cNvSpPr txBox="1">
            <a:spLocks/>
          </p:cNvSpPr>
          <p:nvPr/>
        </p:nvSpPr>
        <p:spPr bwMode="auto">
          <a:xfrm>
            <a:off x="266700" y="136525"/>
            <a:ext cx="7391400" cy="63976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dirty="0"/>
              <a:t>PO Mapping</a:t>
            </a:r>
            <a:endParaRPr lang="en-US" sz="2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15" name="Content Placeholder 1">
            <a:extLst>
              <a:ext uri="{FF2B5EF4-FFF2-40B4-BE49-F238E27FC236}">
                <a16:creationId xmlns:a16="http://schemas.microsoft.com/office/drawing/2014/main" id="{A574E912-1BD9-E5F5-D1D0-3653AD4436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9907314"/>
              </p:ext>
            </p:extLst>
          </p:nvPr>
        </p:nvGraphicFramePr>
        <p:xfrm>
          <a:off x="266700" y="1066710"/>
          <a:ext cx="8469630" cy="4042769"/>
        </p:xfrm>
        <a:graphic>
          <a:graphicData uri="http://schemas.openxmlformats.org/drawingml/2006/table">
            <a:tbl>
              <a:tblPr/>
              <a:tblGrid>
                <a:gridCol w="2823210">
                  <a:extLst>
                    <a:ext uri="{9D8B030D-6E8A-4147-A177-3AD203B41FA5}">
                      <a16:colId xmlns:a16="http://schemas.microsoft.com/office/drawing/2014/main" val="1733137983"/>
                    </a:ext>
                  </a:extLst>
                </a:gridCol>
                <a:gridCol w="2823210">
                  <a:extLst>
                    <a:ext uri="{9D8B030D-6E8A-4147-A177-3AD203B41FA5}">
                      <a16:colId xmlns:a16="http://schemas.microsoft.com/office/drawing/2014/main" val="1867092927"/>
                    </a:ext>
                  </a:extLst>
                </a:gridCol>
                <a:gridCol w="2823210">
                  <a:extLst>
                    <a:ext uri="{9D8B030D-6E8A-4147-A177-3AD203B41FA5}">
                      <a16:colId xmlns:a16="http://schemas.microsoft.com/office/drawing/2014/main" val="3632937791"/>
                    </a:ext>
                  </a:extLst>
                </a:gridCol>
              </a:tblGrid>
              <a:tr h="476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PO Number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PO Description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Justification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763315"/>
                  </a:ext>
                </a:extLst>
              </a:tr>
              <a:tr h="11365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PO1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Engineering Knowledge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Builds a strong foundation in math, statistics, and ML needed for accurate sales forecasting.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0933226"/>
                  </a:ext>
                </a:extLst>
              </a:tr>
              <a:tr h="11365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PO3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Design/Development of Solutions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Applies optimized machine learning models to solve real-world business problems.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5647277"/>
                  </a:ext>
                </a:extLst>
              </a:tr>
              <a:tr h="11365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PO5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Engineering Tool Usage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Uses modern tools and techniques for prediction and modeling to tackle complex challenges.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4290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6918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211007-D38D-0F73-2C0B-A93F73B00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9D4A80-6F48-7F1A-33E1-350D191F7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96073-0439-0442-AC0F-3387FBE4863F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pic>
        <p:nvPicPr>
          <p:cNvPr id="6" name="Picture 5" descr="A logo for a college of engineering&#10;&#10;AI-generated content may be incorrect.">
            <a:extLst>
              <a:ext uri="{FF2B5EF4-FFF2-40B4-BE49-F238E27FC236}">
                <a16:creationId xmlns:a16="http://schemas.microsoft.com/office/drawing/2014/main" id="{513E9703-AF6E-0769-91B5-9AEAE8E971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77D5B4A-06A2-ADD2-F82F-36544EDB78B3}"/>
              </a:ext>
            </a:extLst>
          </p:cNvPr>
          <p:cNvSpPr txBox="1">
            <a:spLocks/>
          </p:cNvSpPr>
          <p:nvPr/>
        </p:nvSpPr>
        <p:spPr bwMode="auto">
          <a:xfrm>
            <a:off x="266700" y="228509"/>
            <a:ext cx="7391400" cy="63976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dirty="0"/>
              <a:t>PSO Mapping</a:t>
            </a:r>
            <a:endParaRPr lang="en-US" sz="2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1BD1CF12-78B0-7B9A-90A4-C1049CF75C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7844480"/>
              </p:ext>
            </p:extLst>
          </p:nvPr>
        </p:nvGraphicFramePr>
        <p:xfrm>
          <a:off x="304800" y="1295400"/>
          <a:ext cx="8058150" cy="3276600"/>
        </p:xfrm>
        <a:graphic>
          <a:graphicData uri="http://schemas.openxmlformats.org/drawingml/2006/table">
            <a:tbl>
              <a:tblPr/>
              <a:tblGrid>
                <a:gridCol w="2686050">
                  <a:extLst>
                    <a:ext uri="{9D8B030D-6E8A-4147-A177-3AD203B41FA5}">
                      <a16:colId xmlns:a16="http://schemas.microsoft.com/office/drawing/2014/main" val="3291714642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2429436482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4164081968"/>
                    </a:ext>
                  </a:extLst>
                </a:gridCol>
              </a:tblGrid>
              <a:tr h="630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PSO Number</a:t>
                      </a:r>
                      <a:endParaRPr lang="en-I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PSO Description</a:t>
                      </a:r>
                      <a:endParaRPr lang="en-I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Justification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4113873"/>
                  </a:ext>
                </a:extLst>
              </a:tr>
              <a:tr h="1322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PSO1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Apply AI knowledge to design and evaluate intelligent solutions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Applied to communication problems in business, education, and customer support.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1764615"/>
                  </a:ext>
                </a:extLst>
              </a:tr>
              <a:tr h="1322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PSO2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Use advanced ML tools and techniques for intelligent decision-making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Employed Scikit-learn, Transformers, and </a:t>
                      </a:r>
                      <a:r>
                        <a:rPr lang="en-US" sz="1800" dirty="0" err="1"/>
                        <a:t>Streamlit</a:t>
                      </a:r>
                      <a:r>
                        <a:rPr lang="en-US" sz="1800" dirty="0"/>
                        <a:t> to build and evaluate models.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97520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C1A2CE7E-849C-40C4-16E9-2B11FB18E4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4586960"/>
            <a:ext cx="3086101" cy="178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246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E533E-0DD5-A360-F281-5DC276025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3A5D7D-F6C5-A78D-F62F-354C4D4FB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A293F4-01E4-CED3-6F7D-3E5845833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96073-0439-0442-AC0F-3387FBE4863F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pic>
        <p:nvPicPr>
          <p:cNvPr id="6" name="Picture 5" descr="A logo for a college of engineering&#10;&#10;AI-generated content may be incorrect.">
            <a:extLst>
              <a:ext uri="{FF2B5EF4-FFF2-40B4-BE49-F238E27FC236}">
                <a16:creationId xmlns:a16="http://schemas.microsoft.com/office/drawing/2014/main" id="{9E00E122-8F0F-712B-FBDB-D0ED9857FB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535F1885-66A7-762A-D244-D3AA6EC8089E}"/>
              </a:ext>
            </a:extLst>
          </p:cNvPr>
          <p:cNvSpPr txBox="1">
            <a:spLocks/>
          </p:cNvSpPr>
          <p:nvPr/>
        </p:nvSpPr>
        <p:spPr bwMode="auto">
          <a:xfrm>
            <a:off x="266700" y="228509"/>
            <a:ext cx="7391400" cy="63976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Timelines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6575D5A8-F337-F67C-8B28-D3CDB27AA1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9793925"/>
              </p:ext>
            </p:extLst>
          </p:nvPr>
        </p:nvGraphicFramePr>
        <p:xfrm>
          <a:off x="304800" y="1265238"/>
          <a:ext cx="8210550" cy="4906961"/>
        </p:xfrm>
        <a:graphic>
          <a:graphicData uri="http://schemas.openxmlformats.org/drawingml/2006/table">
            <a:tbl>
              <a:tblPr/>
              <a:tblGrid>
                <a:gridCol w="4105275">
                  <a:extLst>
                    <a:ext uri="{9D8B030D-6E8A-4147-A177-3AD203B41FA5}">
                      <a16:colId xmlns:a16="http://schemas.microsoft.com/office/drawing/2014/main" val="1842253050"/>
                    </a:ext>
                  </a:extLst>
                </a:gridCol>
                <a:gridCol w="4105275">
                  <a:extLst>
                    <a:ext uri="{9D8B030D-6E8A-4147-A177-3AD203B41FA5}">
                      <a16:colId xmlns:a16="http://schemas.microsoft.com/office/drawing/2014/main" val="3692967236"/>
                    </a:ext>
                  </a:extLst>
                </a:gridCol>
              </a:tblGrid>
              <a:tr h="4527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Month</a:t>
                      </a:r>
                      <a:endParaRPr lang="en-I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Activities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207643"/>
                  </a:ext>
                </a:extLst>
              </a:tr>
              <a:tr h="732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June 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Requirement Analysis, Literature Review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1926865"/>
                  </a:ext>
                </a:extLst>
              </a:tr>
              <a:tr h="1240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July 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Dataset Collection, Preprocessing, Classifier &amp; Response Model Development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8897371"/>
                  </a:ext>
                </a:extLst>
              </a:tr>
              <a:tr h="1240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August 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Frontend and Backend Integration using Streamlit &amp; Flask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8198145"/>
                  </a:ext>
                </a:extLst>
              </a:tr>
              <a:tr h="1240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September 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Unit Testing, Final Deployment, Documentation and Report Submission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48740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3141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8EADC-0EEE-2C9E-54E4-932A3E410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  <a:endParaRPr lang="en-US" sz="2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DADFF-64F2-DEE6-B50B-34126AF74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0" indent="0" algn="just" eaLnBrk="1" fontAlgn="auto" hangingPunct="1">
              <a:spcAft>
                <a:spcPts val="0"/>
              </a:spcAft>
              <a:buNone/>
              <a:defRPr/>
            </a:pPr>
            <a:r>
              <a:rPr lang="en-IN" sz="2400" dirty="0"/>
              <a:t>[1] </a:t>
            </a:r>
            <a:r>
              <a:rPr lang="en-US" sz="2400" dirty="0"/>
              <a:t>H. A. Omar and D.-R. Liu, “Enhancing sales forecasting by using neuro networks and the popularity of magazine article titles,” in Proc. Int. Conf. Genet. </a:t>
            </a:r>
            <a:r>
              <a:rPr lang="en-US" sz="2400" dirty="0" err="1"/>
              <a:t>Evol</a:t>
            </a:r>
            <a:r>
              <a:rPr lang="en-US" sz="2400" dirty="0"/>
              <a:t>. </a:t>
            </a:r>
            <a:r>
              <a:rPr lang="en-US" sz="2400" dirty="0" err="1"/>
              <a:t>Comput</a:t>
            </a:r>
            <a:r>
              <a:rPr lang="en-US" sz="2400" dirty="0"/>
              <a:t>., 2012, pp. 577–580. </a:t>
            </a:r>
          </a:p>
          <a:p>
            <a:pPr marL="0" indent="0" algn="just" eaLnBrk="1" fontAlgn="auto" hangingPunct="1">
              <a:spcAft>
                <a:spcPts val="0"/>
              </a:spcAft>
              <a:buNone/>
              <a:defRPr/>
            </a:pPr>
            <a:r>
              <a:rPr lang="en-IN" sz="2400" dirty="0"/>
              <a:t>[2] </a:t>
            </a:r>
            <a:r>
              <a:rPr lang="en-US" sz="2400" dirty="0"/>
              <a:t>B. M. </a:t>
            </a:r>
            <a:r>
              <a:rPr lang="en-US" sz="2400" dirty="0" err="1"/>
              <a:t>Pavlyshenko</a:t>
            </a:r>
            <a:r>
              <a:rPr lang="en-US" sz="2400" dirty="0"/>
              <a:t>, “Machine-learning models for sales time series forecasting,” Data, vol. 4, no. 1, pp. 1–15, Jan. 2019.</a:t>
            </a:r>
          </a:p>
          <a:p>
            <a:pPr marL="0" indent="0" algn="just" eaLnBrk="1" fontAlgn="auto" hangingPunct="1">
              <a:spcAft>
                <a:spcPts val="0"/>
              </a:spcAft>
              <a:buNone/>
              <a:defRPr/>
            </a:pPr>
            <a:r>
              <a:rPr lang="en-US" sz="2400" dirty="0"/>
              <a:t>[3] C.-J. Lu and L.-J. Kao, “A clustering-based sales forecasting scheme by using extreme learning machine and </a:t>
            </a:r>
            <a:r>
              <a:rPr lang="en-US" sz="2400" dirty="0" err="1"/>
              <a:t>ensembling</a:t>
            </a:r>
            <a:r>
              <a:rPr lang="en-US" sz="2400" dirty="0"/>
              <a:t> linkage methods with applications to computer server,” Eng. Appl. </a:t>
            </a:r>
            <a:r>
              <a:rPr lang="en-US" sz="2400" dirty="0" err="1"/>
              <a:t>Artif</a:t>
            </a:r>
            <a:r>
              <a:rPr lang="en-US" sz="2400" dirty="0"/>
              <a:t>. </a:t>
            </a:r>
            <a:r>
              <a:rPr lang="en-US" sz="2400" dirty="0" err="1"/>
              <a:t>Intell</a:t>
            </a:r>
            <a:r>
              <a:rPr lang="en-US" sz="2400" dirty="0"/>
              <a:t>., vol. 55, pp. 231–238, Oct. 2016. </a:t>
            </a:r>
          </a:p>
          <a:p>
            <a:pPr marL="0" indent="0" algn="just" eaLnBrk="1" fontAlgn="auto" hangingPunct="1">
              <a:spcAft>
                <a:spcPts val="0"/>
              </a:spcAft>
              <a:buNone/>
              <a:defRPr/>
            </a:pPr>
            <a:r>
              <a:rPr lang="en-US" sz="2400" dirty="0"/>
              <a:t>[4] C. C. Holt, “Forecasting seasonals and trends by exponentially weighted moving averages,” Int. J. Forecast., vol. 20, no. 1, pp. 5–10, Jan. 2004. </a:t>
            </a:r>
          </a:p>
          <a:p>
            <a:pPr marL="0" indent="0" algn="just" eaLnBrk="1" fontAlgn="auto" hangingPunct="1">
              <a:spcAft>
                <a:spcPts val="0"/>
              </a:spcAft>
              <a:buNone/>
              <a:defRPr/>
            </a:pPr>
            <a:r>
              <a:rPr lang="en-US" sz="2400" dirty="0"/>
              <a:t>[5] R. H. Shumway and D. S. Stoffer, “ARIMA models,” in Time Series Analysis and Its Applications, 4th ed. New York, NY, USA: Springer, 2017, pp. 75–133.</a:t>
            </a:r>
          </a:p>
        </p:txBody>
      </p:sp>
      <p:sp>
        <p:nvSpPr>
          <p:cNvPr id="13317" name="Slide Number Placeholder 4">
            <a:extLst>
              <a:ext uri="{FF2B5EF4-FFF2-40B4-BE49-F238E27FC236}">
                <a16:creationId xmlns:a16="http://schemas.microsoft.com/office/drawing/2014/main" id="{FBA1A201-6B40-AEAA-8085-8F1407368D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E98BD84-CE13-3A4E-A584-364A90364486}" type="slidenum">
              <a:rPr lang="en-US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en-US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3" descr="A logo for a college of engineering&#10;&#10;AI-generated content may be incorrect.">
            <a:extLst>
              <a:ext uri="{FF2B5EF4-FFF2-40B4-BE49-F238E27FC236}">
                <a16:creationId xmlns:a16="http://schemas.microsoft.com/office/drawing/2014/main" id="{E8E88272-2B89-6031-D5F8-A9954AF89B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F8696-E0F4-FAFD-8102-1BA6CD315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DC9B6-3374-E414-8750-71C1ABAF4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3600" b="1" dirty="0"/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b="1" dirty="0"/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6600" b="1" i="1" dirty="0">
              <a:latin typeface="Algerian" panose="04020705040A02060702" pitchFamily="82" charset="0"/>
            </a:endParaRPr>
          </a:p>
          <a:p>
            <a:pPr marL="514350" indent="-514350" algn="ctr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5400" b="1" i="1" dirty="0">
                <a:latin typeface="Algerian" panose="04020705040A02060702" pitchFamily="82" charset="0"/>
              </a:rPr>
              <a:t>THANK YOU</a:t>
            </a: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b="1" dirty="0"/>
          </a:p>
        </p:txBody>
      </p:sp>
      <p:sp>
        <p:nvSpPr>
          <p:cNvPr id="14340" name="Slide Number Placeholder 4">
            <a:extLst>
              <a:ext uri="{FF2B5EF4-FFF2-40B4-BE49-F238E27FC236}">
                <a16:creationId xmlns:a16="http://schemas.microsoft.com/office/drawing/2014/main" id="{54B673C1-BF9C-DA33-8364-E63F71F4AD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BEDEFEE-79E3-4247-B13F-BA9161CED57F}" type="slidenum">
              <a:rPr lang="en-US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en-US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3" descr="A logo for a college of engineering&#10;&#10;AI-generated content may be incorrect.">
            <a:extLst>
              <a:ext uri="{FF2B5EF4-FFF2-40B4-BE49-F238E27FC236}">
                <a16:creationId xmlns:a16="http://schemas.microsoft.com/office/drawing/2014/main" id="{90080CEA-4FCC-B49B-15DF-FFC6382BF3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650" y="190279"/>
            <a:ext cx="1028700" cy="83820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B32B7-1760-A489-AEC3-6C0024C68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3841</TotalTime>
  <Words>1251</Words>
  <Application>Microsoft Office PowerPoint</Application>
  <PresentationFormat>On-screen Show (4:3)</PresentationFormat>
  <Paragraphs>162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Algerian</vt:lpstr>
      <vt:lpstr>Arial</vt:lpstr>
      <vt:lpstr>Bahamas</vt:lpstr>
      <vt:lpstr>Calibri</vt:lpstr>
      <vt:lpstr>Calibri Light</vt:lpstr>
      <vt:lpstr>Cambria</vt:lpstr>
      <vt:lpstr>Office Theme</vt:lpstr>
      <vt:lpstr>    VARDHAMAN COLLEGE OF ENGINEERING, HYDERABAD Autonomous institute affiliated to JNTUH  DEPARTMENT OF CSE(AI&amp;ML) III-Year Mini Project Abstract Level Review</vt:lpstr>
      <vt:lpstr>Outlines</vt:lpstr>
      <vt:lpstr>Abstract</vt:lpstr>
      <vt:lpstr>Introduction</vt:lpstr>
      <vt:lpstr>Existing System </vt:lpstr>
      <vt:lpstr>Pros and Cons of Existing System</vt:lpstr>
      <vt:lpstr>Problem Statement</vt:lpstr>
      <vt:lpstr>Objectives &amp; Deliverables Proposed System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</dc:title>
  <dc:creator>Venu Gopal Sakkera</dc:creator>
  <cp:lastModifiedBy>Venkata Teja P</cp:lastModifiedBy>
  <cp:revision>228</cp:revision>
  <dcterms:created xsi:type="dcterms:W3CDTF">2006-08-16T00:00:00Z</dcterms:created>
  <dcterms:modified xsi:type="dcterms:W3CDTF">2025-07-10T13:39:00Z</dcterms:modified>
</cp:coreProperties>
</file>